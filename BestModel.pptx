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89" y="-10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C7327-535B-E0B6-779A-FF5F607F8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4EB32-F363-A707-6423-2764C166E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D113B-FAC9-868A-2EB3-9A28AA6C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9F59-A237-49D3-9A4D-F64E5524C87A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A57E9-7CCF-AE17-0D04-47757026B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1C74A-5A4E-BFB0-A3B5-68E7A3C12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4CE1A-866A-4FE2-8EC7-602F6A0E4D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2458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3D4FF-CF79-0D85-EFEA-AF1442BD0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33E48-14B5-8204-9E11-51F1EC68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0C77F-EDB6-3D8E-9901-BCCDD840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9F59-A237-49D3-9A4D-F64E5524C87A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3CFA2-554A-9144-BDE0-E77B13D69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23B33-21EB-CDF8-BA86-EA9BE4619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4CE1A-866A-4FE2-8EC7-602F6A0E4D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004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0BC3-056A-86DF-1B82-64655A906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21396-92CD-DD84-B00D-AC288DC36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CA4E8-46EA-561C-FAAE-D348709E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9F59-A237-49D3-9A4D-F64E5524C87A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6EEEC-3667-09DA-CA89-A6EAC398F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62F85-57F1-8376-4F09-C868F2AC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4CE1A-866A-4FE2-8EC7-602F6A0E4D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4479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704B3-F10E-E306-E483-4F3518FE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92532-0179-7D44-9ABA-4F5BF3696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130B4-1D54-741E-E6D7-635B0E851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AE445-3DB1-74C9-C657-EFA2577DB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9F59-A237-49D3-9A4D-F64E5524C87A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6C717-811B-FA59-D8F3-315B1F886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3DD98-7D20-3361-F7E8-E30B0B67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4CE1A-866A-4FE2-8EC7-602F6A0E4D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336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E8C4-5DB5-A365-AADE-19B2EFDA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D183B-53A6-67DF-ED92-C73706088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B5A6C-BD8A-950F-25E6-9BE6F33F9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355AD-063D-3A73-F2F1-6C3707692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CA7F41-A9FD-4F64-3164-CB9EDCE8A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E9E1EB-900C-90F3-94F6-466AD78B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9F59-A237-49D3-9A4D-F64E5524C87A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551EA6-9E83-3DC1-73EE-0EBDF75EF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163FE7-5B30-5AF2-9A43-38321974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4CE1A-866A-4FE2-8EC7-602F6A0E4D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9667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321EC-59F5-D107-4C2A-947CC6160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AA13E0-5A4F-32FC-2888-C2998ACBB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9F59-A237-49D3-9A4D-F64E5524C87A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641F7-F284-0783-A9A2-BC316B45D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F95BF-6E0D-24E6-2FF9-6A128745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4CE1A-866A-4FE2-8EC7-602F6A0E4D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9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C8310-DC0C-AF11-58A9-8BB03482B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9F59-A237-49D3-9A4D-F64E5524C87A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95239-B394-E30C-0030-230B467DF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9FD0C-163A-7248-E6F2-866D6BB2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4CE1A-866A-4FE2-8EC7-602F6A0E4D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539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95AA-EFF7-E55F-FB91-FCCC0D61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1473F-27D3-07C7-1BE8-97A93FE1C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C1610-1A0B-265A-597B-72CE242EB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9C318-3E12-15A2-7164-62EF7499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9F59-A237-49D3-9A4D-F64E5524C87A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8B566-CA22-B216-D76A-3D6C5313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C1FAF-1D77-3DC7-C032-E6C861E7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4CE1A-866A-4FE2-8EC7-602F6A0E4D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30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2F250-EF07-9434-2289-B53196296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E0CFD-7EE3-025C-9FC2-70E9E4600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B6D38-C6E9-8B40-2698-7A399AEB5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05D53-A8E4-9B35-E3B9-0EC31BC7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9F59-A237-49D3-9A4D-F64E5524C87A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DDBE2-A98A-30B1-61F5-723A533A4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0160C-C37D-13A1-5E6D-17DF8D4E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4CE1A-866A-4FE2-8EC7-602F6A0E4D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930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2D0D-9B38-9C14-A860-151A9E4E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17423-23F6-BCD5-9BAD-5DCBB05B0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BA8D1-CBF6-986E-C644-BBC4EB0E9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9F59-A237-49D3-9A4D-F64E5524C87A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26144-F94F-A430-FD5B-4FD81566C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01708-4F3E-A69F-721D-DEEEC2F5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4CE1A-866A-4FE2-8EC7-602F6A0E4D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936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C13DA5-3AAD-A97E-303B-9DB5EB02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2EF9A-79F3-7E48-30C4-34CE7DF52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1F9A-430A-DC34-9E06-F35101F7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9F59-A237-49D3-9A4D-F64E5524C87A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59392-531E-2EC6-CF65-FD40E18E9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EFE69-61FA-CC8C-696D-ECC73DDE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4CE1A-866A-4FE2-8EC7-602F6A0E4D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830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1EEA2-B3B9-422D-69A8-262F59663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B82DD-8C84-A757-CFD1-A281221C3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7BC4E-E04F-2147-500E-5F5DD9E80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D9F59-A237-49D3-9A4D-F64E5524C87A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14B39-8A1C-70AF-84C3-78D01BCAA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D9FC5-FFC5-D7CF-E546-C0082D499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4CE1A-866A-4FE2-8EC7-602F6A0E4D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181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4AF33-235B-3CD3-EA37-526213F8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2026-03-11_SMALL_BTCUSDT_1h_2021-01-01_2025-12-01_LB512_PRED20</a:t>
            </a:r>
            <a:br>
              <a:rPr lang="en-US" sz="2400" dirty="0"/>
            </a:br>
            <a:r>
              <a:rPr lang="en-US" sz="2400" dirty="0"/>
              <a:t>SOURCE: POWERSTATION</a:t>
            </a:r>
            <a:br>
              <a:rPr lang="en-US" sz="2400" dirty="0"/>
            </a:br>
            <a:r>
              <a:rPr lang="da-DK" sz="2000" dirty="0"/>
              <a:t>"PRED_HORIZON": 10,</a:t>
            </a:r>
            <a:br>
              <a:rPr lang="da-DK" sz="2000"/>
            </a:br>
            <a:r>
              <a:rPr lang="da-DK" sz="2000"/>
              <a:t>"</a:t>
            </a:r>
            <a:r>
              <a:rPr lang="da-DK" sz="2000" dirty="0"/>
              <a:t>MIN_CHANGE_PCT": 0.0,</a:t>
            </a:r>
            <a:br>
              <a:rPr lang="da-DK" sz="2000"/>
            </a:br>
            <a:r>
              <a:rPr lang="da-DK" sz="2000"/>
              <a:t>"</a:t>
            </a:r>
            <a:r>
              <a:rPr lang="da-DK" sz="2000" dirty="0"/>
              <a:t>MAX_STD_PCT": </a:t>
            </a:r>
            <a:r>
              <a:rPr lang="da-DK" sz="2000"/>
              <a:t>0.38, </a:t>
            </a:r>
            <a:br>
              <a:rPr lang="da-DK" sz="2000"/>
            </a:br>
            <a:r>
              <a:rPr lang="da-DK" sz="2000"/>
              <a:t>UPSIDE: 0</a:t>
            </a:r>
            <a:br>
              <a:rPr lang="da-DK" sz="2000" dirty="0"/>
            </a:br>
            <a:endParaRPr lang="de-DE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6B8CAD-E9EC-FA5E-D3F1-0E31D6ACE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600" cy="2921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6E6B72-38F7-C143-2B9D-4A1F9F8DA7E7}"/>
              </a:ext>
            </a:extLst>
          </p:cNvPr>
          <p:cNvSpPr txBox="1"/>
          <p:nvPr/>
        </p:nvSpPr>
        <p:spPr>
          <a:xfrm>
            <a:off x="1179584" y="4611688"/>
            <a:ext cx="501445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--- Fixed Position ---</a:t>
            </a:r>
          </a:p>
          <a:p>
            <a:r>
              <a:rPr lang="de-DE" sz="1400" dirty="0"/>
              <a:t>  Num Trades          : 32</a:t>
            </a:r>
          </a:p>
          <a:p>
            <a:r>
              <a:rPr lang="de-DE" sz="1400" dirty="0"/>
              <a:t>  </a:t>
            </a:r>
            <a:r>
              <a:rPr lang="de-DE" sz="1400" dirty="0" err="1"/>
              <a:t>Win</a:t>
            </a:r>
            <a:r>
              <a:rPr lang="de-DE" sz="1400" dirty="0"/>
              <a:t> Rate            : 84.38%</a:t>
            </a:r>
          </a:p>
          <a:p>
            <a:r>
              <a:rPr lang="de-DE" sz="1400" dirty="0"/>
              <a:t>  Total </a:t>
            </a:r>
            <a:r>
              <a:rPr lang="de-DE" sz="1400" dirty="0" err="1"/>
              <a:t>PnL</a:t>
            </a:r>
            <a:r>
              <a:rPr lang="de-DE" sz="1400" dirty="0"/>
              <a:t>           : $107.16</a:t>
            </a:r>
          </a:p>
          <a:p>
            <a:r>
              <a:rPr lang="de-DE" sz="1400" dirty="0"/>
              <a:t>  Final Equity        : $1107.16</a:t>
            </a:r>
          </a:p>
          <a:p>
            <a:r>
              <a:rPr lang="de-DE" sz="1400" dirty="0"/>
              <a:t>  Max </a:t>
            </a:r>
            <a:r>
              <a:rPr lang="de-DE" sz="1400" dirty="0" err="1"/>
              <a:t>Drawdown</a:t>
            </a:r>
            <a:r>
              <a:rPr lang="de-DE" sz="1400" dirty="0"/>
              <a:t>        : $-23.73</a:t>
            </a:r>
          </a:p>
          <a:p>
            <a:r>
              <a:rPr lang="de-DE" sz="1400" dirty="0"/>
              <a:t>  Return/DD Ratio     : 4.52</a:t>
            </a:r>
          </a:p>
          <a:p>
            <a:r>
              <a:rPr lang="de-DE" sz="1400" dirty="0"/>
              <a:t>  Sharpe Ratio        : 2.19</a:t>
            </a:r>
          </a:p>
          <a:p>
            <a:r>
              <a:rPr lang="de-DE" sz="1400" dirty="0"/>
              <a:t>  Profit </a:t>
            </a:r>
            <a:r>
              <a:rPr lang="de-DE" sz="1400" dirty="0" err="1"/>
              <a:t>Factor</a:t>
            </a:r>
            <a:r>
              <a:rPr lang="de-DE" sz="1400" dirty="0"/>
              <a:t>       : 3.39</a:t>
            </a:r>
          </a:p>
          <a:p>
            <a:endParaRPr lang="de-DE" sz="1400" dirty="0"/>
          </a:p>
          <a:p>
            <a:endParaRPr lang="de-DE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A5EDA-F4BD-AF6B-C4BA-406BA094BEA8}"/>
              </a:ext>
            </a:extLst>
          </p:cNvPr>
          <p:cNvSpPr txBox="1"/>
          <p:nvPr/>
        </p:nvSpPr>
        <p:spPr>
          <a:xfrm>
            <a:off x="6569476" y="4644589"/>
            <a:ext cx="54597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--- </a:t>
            </a:r>
            <a:r>
              <a:rPr lang="de-DE" sz="1400" dirty="0" err="1"/>
              <a:t>Compounding</a:t>
            </a:r>
            <a:r>
              <a:rPr lang="de-DE" sz="1400" dirty="0"/>
              <a:t> ---</a:t>
            </a:r>
          </a:p>
          <a:p>
            <a:r>
              <a:rPr lang="de-DE" sz="1400" dirty="0"/>
              <a:t>  Num Trades          : 32</a:t>
            </a:r>
          </a:p>
          <a:p>
            <a:r>
              <a:rPr lang="de-DE" sz="1400" dirty="0"/>
              <a:t>  </a:t>
            </a:r>
            <a:r>
              <a:rPr lang="de-DE" sz="1400" dirty="0" err="1"/>
              <a:t>Win</a:t>
            </a:r>
            <a:r>
              <a:rPr lang="de-DE" sz="1400" dirty="0"/>
              <a:t> Rate            : 84.38%</a:t>
            </a:r>
          </a:p>
          <a:p>
            <a:r>
              <a:rPr lang="de-DE" sz="1400" dirty="0"/>
              <a:t>  Total </a:t>
            </a:r>
            <a:r>
              <a:rPr lang="de-DE" sz="1400" dirty="0" err="1"/>
              <a:t>PnL</a:t>
            </a:r>
            <a:r>
              <a:rPr lang="de-DE" sz="1400" dirty="0"/>
              <a:t>           : $111.59</a:t>
            </a:r>
          </a:p>
          <a:p>
            <a:r>
              <a:rPr lang="de-DE" sz="1400" dirty="0"/>
              <a:t>  Final Equity        : $1111.59</a:t>
            </a:r>
          </a:p>
          <a:p>
            <a:r>
              <a:rPr lang="de-DE" sz="1400" dirty="0"/>
              <a:t>  Max </a:t>
            </a:r>
            <a:r>
              <a:rPr lang="de-DE" sz="1400" dirty="0" err="1"/>
              <a:t>Drawdown</a:t>
            </a:r>
            <a:r>
              <a:rPr lang="de-DE" sz="1400" dirty="0"/>
              <a:t>        : $-25.25</a:t>
            </a:r>
          </a:p>
          <a:p>
            <a:r>
              <a:rPr lang="de-DE" sz="1400" dirty="0"/>
              <a:t>  Return/DD Ratio     : 4.42</a:t>
            </a:r>
          </a:p>
          <a:p>
            <a:r>
              <a:rPr lang="de-DE" sz="1400" dirty="0"/>
              <a:t>  Sharpe Ratio        : 2.18</a:t>
            </a:r>
          </a:p>
          <a:p>
            <a:r>
              <a:rPr lang="de-DE" sz="1400" dirty="0"/>
              <a:t>  Profit </a:t>
            </a:r>
            <a:r>
              <a:rPr lang="de-DE" sz="1400" dirty="0" err="1"/>
              <a:t>Factor</a:t>
            </a:r>
            <a:r>
              <a:rPr lang="de-DE" sz="1400" dirty="0"/>
              <a:t>       : 3.35</a:t>
            </a:r>
          </a:p>
        </p:txBody>
      </p:sp>
    </p:spTree>
    <p:extLst>
      <p:ext uri="{BB962C8B-B14F-4D97-AF65-F5344CB8AC3E}">
        <p14:creationId xmlns:p14="http://schemas.microsoft.com/office/powerpoint/2010/main" val="992857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416659-F057-44F4-BACA-556DA8CB5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2026-03-11_SMALL_BTCUSDT_1h_2021-01-01_2025-12-01_LB512_PRED16</a:t>
            </a:r>
            <a:br>
              <a:rPr lang="en-US" sz="2000" dirty="0"/>
            </a:br>
            <a:r>
              <a:rPr lang="en-US" sz="2000" dirty="0"/>
              <a:t>Source: Lenovo Legion</a:t>
            </a:r>
            <a:br>
              <a:rPr lang="en-US" sz="2000" dirty="0"/>
            </a:br>
            <a:endParaRPr lang="de-AT" sz="2000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2743196-515B-253D-7655-9FA7FDA0FE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40794"/>
            <a:ext cx="10515600" cy="2921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941B4A8-3B8C-A878-2FB1-844BCFB91A70}"/>
              </a:ext>
            </a:extLst>
          </p:cNvPr>
          <p:cNvSpPr txBox="1"/>
          <p:nvPr/>
        </p:nvSpPr>
        <p:spPr>
          <a:xfrm>
            <a:off x="1021702" y="5519057"/>
            <a:ext cx="54350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--- Fixed Position ---</a:t>
            </a:r>
          </a:p>
          <a:p>
            <a:r>
              <a:rPr lang="de-AT" dirty="0"/>
              <a:t>  Num Trades          : 116</a:t>
            </a:r>
          </a:p>
          <a:p>
            <a:r>
              <a:rPr lang="de-AT" dirty="0"/>
              <a:t>  </a:t>
            </a:r>
            <a:r>
              <a:rPr lang="de-AT" dirty="0" err="1"/>
              <a:t>Win</a:t>
            </a:r>
            <a:r>
              <a:rPr lang="de-AT" dirty="0"/>
              <a:t> Rate            : 68.10%</a:t>
            </a:r>
          </a:p>
          <a:p>
            <a:r>
              <a:rPr lang="de-AT" dirty="0"/>
              <a:t>  Total </a:t>
            </a:r>
            <a:r>
              <a:rPr lang="de-AT" dirty="0" err="1"/>
              <a:t>PnL</a:t>
            </a:r>
            <a:r>
              <a:rPr lang="de-AT" dirty="0"/>
              <a:t>           : $230.75</a:t>
            </a:r>
          </a:p>
          <a:p>
            <a:r>
              <a:rPr lang="de-AT" dirty="0"/>
              <a:t>  Final Equity        : $1230.75</a:t>
            </a:r>
          </a:p>
          <a:p>
            <a:r>
              <a:rPr lang="de-AT" dirty="0"/>
              <a:t>  Max </a:t>
            </a:r>
            <a:r>
              <a:rPr lang="de-AT" dirty="0" err="1"/>
              <a:t>Drawdown</a:t>
            </a:r>
            <a:r>
              <a:rPr lang="de-AT" dirty="0"/>
              <a:t>        : $-78.47</a:t>
            </a:r>
          </a:p>
          <a:p>
            <a:r>
              <a:rPr lang="de-AT" dirty="0"/>
              <a:t>  Return/DD Ratio     : 2.94</a:t>
            </a:r>
          </a:p>
          <a:p>
            <a:r>
              <a:rPr lang="de-AT" dirty="0"/>
              <a:t>  Sharpe Ratio        : 1.82</a:t>
            </a:r>
          </a:p>
          <a:p>
            <a:r>
              <a:rPr lang="de-AT" dirty="0"/>
              <a:t>  Profit </a:t>
            </a:r>
            <a:r>
              <a:rPr lang="de-AT" dirty="0" err="1"/>
              <a:t>Factor</a:t>
            </a:r>
            <a:r>
              <a:rPr lang="de-AT" dirty="0"/>
              <a:t>       : 1.70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224C064-C60C-6FAB-40D1-D99D3B85FA94}"/>
              </a:ext>
            </a:extLst>
          </p:cNvPr>
          <p:cNvSpPr txBox="1"/>
          <p:nvPr/>
        </p:nvSpPr>
        <p:spPr>
          <a:xfrm>
            <a:off x="6377473" y="5519057"/>
            <a:ext cx="40588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--- </a:t>
            </a:r>
            <a:r>
              <a:rPr lang="de-AT" dirty="0" err="1"/>
              <a:t>Compounding</a:t>
            </a:r>
            <a:r>
              <a:rPr lang="de-AT" dirty="0"/>
              <a:t> ---</a:t>
            </a:r>
          </a:p>
          <a:p>
            <a:r>
              <a:rPr lang="de-AT" dirty="0"/>
              <a:t>  Num Trades          : 116</a:t>
            </a:r>
          </a:p>
          <a:p>
            <a:r>
              <a:rPr lang="de-AT" dirty="0"/>
              <a:t>  </a:t>
            </a:r>
            <a:r>
              <a:rPr lang="de-AT" dirty="0" err="1"/>
              <a:t>Win</a:t>
            </a:r>
            <a:r>
              <a:rPr lang="de-AT" dirty="0"/>
              <a:t> Rate            : 68.10%</a:t>
            </a:r>
          </a:p>
          <a:p>
            <a:r>
              <a:rPr lang="de-AT" dirty="0"/>
              <a:t>  Total </a:t>
            </a:r>
            <a:r>
              <a:rPr lang="de-AT" dirty="0" err="1"/>
              <a:t>PnL</a:t>
            </a:r>
            <a:r>
              <a:rPr lang="de-AT" dirty="0"/>
              <a:t>           : $249.17</a:t>
            </a:r>
          </a:p>
          <a:p>
            <a:r>
              <a:rPr lang="de-AT" dirty="0"/>
              <a:t>  Final Equity        : $1249.17</a:t>
            </a:r>
          </a:p>
          <a:p>
            <a:r>
              <a:rPr lang="de-AT" dirty="0"/>
              <a:t>  Max </a:t>
            </a:r>
            <a:r>
              <a:rPr lang="de-AT" dirty="0" err="1"/>
              <a:t>Drawdown</a:t>
            </a:r>
            <a:r>
              <a:rPr lang="de-AT" dirty="0"/>
              <a:t>        : $-97.32</a:t>
            </a:r>
          </a:p>
          <a:p>
            <a:r>
              <a:rPr lang="de-AT" dirty="0"/>
              <a:t>  Return/DD Ratio     : 2.56</a:t>
            </a:r>
          </a:p>
          <a:p>
            <a:r>
              <a:rPr lang="de-AT" dirty="0"/>
              <a:t>  Sharpe Ratio        : 1.67</a:t>
            </a:r>
          </a:p>
          <a:p>
            <a:r>
              <a:rPr lang="de-AT" dirty="0"/>
              <a:t>  Profit </a:t>
            </a:r>
            <a:r>
              <a:rPr lang="de-AT" dirty="0" err="1"/>
              <a:t>Factor</a:t>
            </a:r>
            <a:r>
              <a:rPr lang="de-AT" dirty="0"/>
              <a:t>       : 1.64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1736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PresentationFormat>Breitbild</PresentationFormat>
  <Paragraphs>38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2026-03-11_SMALL_BTCUSDT_1h_2021-01-01_2025-12-01_LB512_PRED20 SOURCE: POWERSTATION "PRED_HORIZON": 10, "MIN_CHANGE_PCT": 0.0, "MAX_STD_PCT": 0.38,  UPSIDE: 0 </vt:lpstr>
      <vt:lpstr>2026-03-11_SMALL_BTCUSDT_1h_2021-01-01_2025-12-01_LB512_PRED16 Source: Lenovo Legion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Schönberg</dc:creator>
  <cp:lastModifiedBy>Markus Schönberg</cp:lastModifiedBy>
  <cp:revision>2</cp:revision>
  <dcterms:created xsi:type="dcterms:W3CDTF">2026-03-12T22:02:42Z</dcterms:created>
  <dcterms:modified xsi:type="dcterms:W3CDTF">2026-03-13T10:10:07Z</dcterms:modified>
</cp:coreProperties>
</file>